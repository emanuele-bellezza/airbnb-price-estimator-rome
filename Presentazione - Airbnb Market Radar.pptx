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ITC Avant Garde Gothic" panose="020B0604020202020204" charset="0"/>
      <p:regular r:id="rId11"/>
    </p:embeddedFont>
    <p:embeddedFont>
      <p:font typeface="ITC Avant Garde Gothic Bold" panose="020B0604020202020204" charset="0"/>
      <p:regular r:id="rId12"/>
    </p:embeddedFont>
    <p:embeddedFont>
      <p:font typeface="TT Fors" panose="020B0604020202020204" charset="0"/>
      <p:regular r:id="rId13"/>
    </p:embeddedFont>
    <p:embeddedFont>
      <p:font typeface="TT Fors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44829" y="0"/>
            <a:ext cx="8843171" cy="10287000"/>
            <a:chOff x="0" y="0"/>
            <a:chExt cx="1370039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0039" cy="1593725"/>
            </a:xfrm>
            <a:custGeom>
              <a:avLst/>
              <a:gdLst/>
              <a:ahLst/>
              <a:cxnLst/>
              <a:rect l="l" t="t" r="r" b="b"/>
              <a:pathLst>
                <a:path w="1370039" h="1593725">
                  <a:moveTo>
                    <a:pt x="0" y="0"/>
                  </a:moveTo>
                  <a:lnTo>
                    <a:pt x="1370039" y="0"/>
                  </a:lnTo>
                  <a:lnTo>
                    <a:pt x="1370039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37299" r="-37299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9763125" cy="3682999"/>
            <a:chOff x="0" y="0"/>
            <a:chExt cx="13017500" cy="4910666"/>
          </a:xfrm>
        </p:grpSpPr>
        <p:sp>
          <p:nvSpPr>
            <p:cNvPr id="5" name="TextBox 5"/>
            <p:cNvSpPr txBox="1"/>
            <p:nvPr/>
          </p:nvSpPr>
          <p:spPr>
            <a:xfrm>
              <a:off x="0" y="1184275"/>
              <a:ext cx="13017500" cy="37263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99"/>
                </a:lnSpc>
              </a:pPr>
              <a:r>
                <a:rPr lang="en-US" sz="9999" spc="-299">
                  <a:solidFill>
                    <a:srgbClr val="0A2F5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Airbnb Market Radar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130175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347AB7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ALGORITHMS FOR DATA SCIENCE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3474" y="8724265"/>
            <a:ext cx="7194651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n-US" sz="2600">
                <a:solidFill>
                  <a:srgbClr val="0A2F52"/>
                </a:solidFill>
                <a:latin typeface="TT Fors"/>
                <a:ea typeface="TT Fors"/>
                <a:cs typeface="TT Fors"/>
                <a:sym typeface="TT Fors"/>
              </a:rPr>
              <a:t>Emanuele Bellezza K18722, University of Warsaw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59062" y="7776344"/>
            <a:ext cx="4846643" cy="1791955"/>
            <a:chOff x="0" y="0"/>
            <a:chExt cx="6462190" cy="23892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Freeform 4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Freeform 5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4224744"/>
            <a:ext cx="12016188" cy="5952175"/>
          </a:xfrm>
          <a:custGeom>
            <a:avLst/>
            <a:gdLst/>
            <a:ahLst/>
            <a:cxnLst/>
            <a:rect l="l" t="t" r="r" b="b"/>
            <a:pathLst>
              <a:path w="12016188" h="5952175">
                <a:moveTo>
                  <a:pt x="0" y="0"/>
                </a:moveTo>
                <a:lnTo>
                  <a:pt x="12016188" y="0"/>
                </a:lnTo>
                <a:lnTo>
                  <a:pt x="12016188" y="5952175"/>
                </a:lnTo>
                <a:lnTo>
                  <a:pt x="0" y="5952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16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711150" y="370524"/>
            <a:ext cx="11057859" cy="1316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99"/>
              </a:lnSpc>
              <a:spcBef>
                <a:spcPct val="0"/>
              </a:spcBef>
            </a:pPr>
            <a:r>
              <a:rPr lang="en-US" sz="8699" u="none" strike="noStrike" spc="-260">
                <a:solidFill>
                  <a:srgbClr val="0A2F52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Problem Statement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1150" y="2486113"/>
            <a:ext cx="17278801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</a:pPr>
            <a:r>
              <a:rPr lang="en-US" sz="2799">
                <a:solidFill>
                  <a:srgbClr val="0A2F52"/>
                </a:solidFill>
                <a:latin typeface="TT Fors"/>
                <a:ea typeface="TT Fors"/>
                <a:cs typeface="TT Fors"/>
                <a:sym typeface="TT Fors"/>
              </a:rPr>
              <a:t>New Airbnb hosts often struggle with </a:t>
            </a:r>
            <a:r>
              <a:rPr lang="en-US" sz="2799" b="1">
                <a:solidFill>
                  <a:srgbClr val="0A2F52"/>
                </a:solidFill>
                <a:latin typeface="TT Fors Bold"/>
                <a:ea typeface="TT Fors Bold"/>
                <a:cs typeface="TT Fors Bold"/>
                <a:sym typeface="TT Fors Bold"/>
              </a:rPr>
              <a:t>pricing their apartments</a:t>
            </a:r>
            <a:r>
              <a:rPr lang="en-US" sz="2799">
                <a:solidFill>
                  <a:srgbClr val="0A2F52"/>
                </a:solidFill>
                <a:latin typeface="TT Fors"/>
                <a:ea typeface="TT Fors"/>
                <a:cs typeface="TT Fors"/>
                <a:sym typeface="TT Fors"/>
              </a:rPr>
              <a:t> effectively. The traditional arithmetic mean is misleading, especially with outliers. Our goal is to provide an optimal nightly price based on competitors.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1150" y="1686876"/>
            <a:ext cx="7886475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79"/>
              </a:lnSpc>
              <a:spcBef>
                <a:spcPct val="0"/>
              </a:spcBef>
            </a:pPr>
            <a:r>
              <a:rPr lang="en-US" sz="3899" u="none" strike="noStrike" spc="-116">
                <a:solidFill>
                  <a:srgbClr val="347AB7"/>
                </a:solidFill>
                <a:latin typeface="TT Fors"/>
                <a:ea typeface="TT Fors"/>
                <a:cs typeface="TT Fors"/>
                <a:sym typeface="TT Fors"/>
              </a:rPr>
              <a:t>Pricing for New Hosts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7563" y="3548897"/>
            <a:ext cx="10571771" cy="5709403"/>
          </a:xfrm>
          <a:custGeom>
            <a:avLst/>
            <a:gdLst/>
            <a:ahLst/>
            <a:cxnLst/>
            <a:rect l="l" t="t" r="r" b="b"/>
            <a:pathLst>
              <a:path w="10571771" h="5709403">
                <a:moveTo>
                  <a:pt x="0" y="0"/>
                </a:moveTo>
                <a:lnTo>
                  <a:pt x="10571770" y="0"/>
                </a:lnTo>
                <a:lnTo>
                  <a:pt x="10571770" y="5709403"/>
                </a:lnTo>
                <a:lnTo>
                  <a:pt x="0" y="57094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 rot="5400000">
            <a:off x="6310375" y="5047807"/>
            <a:ext cx="9569302" cy="191386"/>
          </a:xfrm>
          <a:custGeom>
            <a:avLst/>
            <a:gdLst/>
            <a:ahLst/>
            <a:cxnLst/>
            <a:rect l="l" t="t" r="r" b="b"/>
            <a:pathLst>
              <a:path w="9569302" h="191386">
                <a:moveTo>
                  <a:pt x="0" y="0"/>
                </a:moveTo>
                <a:lnTo>
                  <a:pt x="9569302" y="0"/>
                </a:lnTo>
                <a:lnTo>
                  <a:pt x="9569302" y="191386"/>
                </a:lnTo>
                <a:lnTo>
                  <a:pt x="0" y="1913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666750" y="666750"/>
            <a:ext cx="9984429" cy="1337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  <a:spcBef>
                <a:spcPct val="0"/>
              </a:spcBef>
            </a:pPr>
            <a:r>
              <a:rPr lang="en-US" sz="8799" u="none" strike="noStrike" spc="-263">
                <a:solidFill>
                  <a:srgbClr val="0A2F52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Data Input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6750" y="1928491"/>
            <a:ext cx="9984429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</a:pPr>
            <a:r>
              <a:rPr lang="en-US" sz="3999" u="none" strike="noStrike" spc="-119">
                <a:solidFill>
                  <a:srgbClr val="347AB7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Analyzing dataset details and edge cases in pricing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999333" y="1028700"/>
            <a:ext cx="7077961" cy="8229600"/>
            <a:chOff x="0" y="0"/>
            <a:chExt cx="9437281" cy="10972800"/>
          </a:xfrm>
        </p:grpSpPr>
        <p:sp>
          <p:nvSpPr>
            <p:cNvPr id="7" name="TextBox 7"/>
            <p:cNvSpPr txBox="1"/>
            <p:nvPr/>
          </p:nvSpPr>
          <p:spPr>
            <a:xfrm>
              <a:off x="725081" y="544406"/>
              <a:ext cx="8201195" cy="22902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dirty="0">
                  <a:solidFill>
                    <a:srgbClr val="0A2F52"/>
                  </a:solidFill>
                  <a:latin typeface="TT Fors"/>
                  <a:ea typeface="TT Fors"/>
                  <a:cs typeface="TT Fors"/>
                  <a:sym typeface="TT Fors"/>
                </a:rPr>
                <a:t>The dataset consists of </a:t>
              </a:r>
              <a:r>
                <a:rPr lang="en-US" sz="2499" b="1" dirty="0">
                  <a:solidFill>
                    <a:srgbClr val="0A2F52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37652 listings</a:t>
              </a:r>
              <a:r>
                <a:rPr lang="en-US" sz="2499" dirty="0">
                  <a:solidFill>
                    <a:srgbClr val="0A2F52"/>
                  </a:solidFill>
                  <a:latin typeface="TT Fors"/>
                  <a:ea typeface="TT Fors"/>
                  <a:cs typeface="TT Fors"/>
                  <a:sym typeface="TT Fors"/>
                </a:rPr>
                <a:t> from Inside Airbnb Rome, detailing essential fields for accurate nightly price calculations.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9182100" cy="5947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46" lvl="1" indent="-269873" algn="l">
                <a:lnSpc>
                  <a:spcPts val="3499"/>
                </a:lnSpc>
                <a:buFont typeface="Arial"/>
                <a:buChar char="•"/>
              </a:pPr>
              <a:r>
                <a:rPr lang="en-US" sz="2499" b="1" u="none" strike="noStrike" spc="-74">
                  <a:solidFill>
                    <a:srgbClr val="0A2F52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Dataset Overview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1224" y="4616873"/>
              <a:ext cx="8200876" cy="2290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A2F52"/>
                  </a:solidFill>
                  <a:latin typeface="TT Fors"/>
                  <a:ea typeface="TT Fors"/>
                  <a:cs typeface="TT Fors"/>
                  <a:sym typeface="TT Fors"/>
                </a:rPr>
                <a:t>Missing prices in </a:t>
              </a:r>
              <a:r>
                <a:rPr lang="en-US" sz="2499" b="1">
                  <a:solidFill>
                    <a:srgbClr val="0A2F52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11 percent</a:t>
              </a:r>
              <a:r>
                <a:rPr lang="en-US" sz="2499">
                  <a:solidFill>
                    <a:srgbClr val="0A2F52"/>
                  </a:solidFill>
                  <a:latin typeface="TT Fors"/>
                  <a:ea typeface="TT Fors"/>
                  <a:cs typeface="TT Fors"/>
                  <a:sym typeface="TT Fors"/>
                </a:rPr>
                <a:t> of listings were identified, necessitating data preprocessing to ensure reliable pricing suggestions.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5181" y="3971290"/>
              <a:ext cx="91821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49" lvl="1" indent="-269875" algn="l">
                <a:lnSpc>
                  <a:spcPts val="3499"/>
                </a:lnSpc>
                <a:buFont typeface="Arial"/>
                <a:buChar char="•"/>
              </a:pPr>
              <a:r>
                <a:rPr lang="en-US" sz="2499" b="1" u="none" strike="noStrike" spc="-74">
                  <a:solidFill>
                    <a:srgbClr val="0A2F52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Edge Case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1224" y="8682567"/>
              <a:ext cx="8167603" cy="2290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A2F52"/>
                  </a:solidFill>
                  <a:latin typeface="TT Fors"/>
                  <a:ea typeface="TT Fors"/>
                  <a:cs typeface="TT Fors"/>
                  <a:sym typeface="TT Fors"/>
                </a:rPr>
                <a:t>Outliers impacted pricing; thus, a </a:t>
              </a:r>
              <a:r>
                <a:rPr lang="en-US" sz="2499" b="1">
                  <a:solidFill>
                    <a:srgbClr val="0A2F52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median price</a:t>
              </a:r>
              <a:r>
                <a:rPr lang="en-US" sz="2499">
                  <a:solidFill>
                    <a:srgbClr val="0A2F52"/>
                  </a:solidFill>
                  <a:latin typeface="TT Fors"/>
                  <a:ea typeface="TT Fors"/>
                  <a:cs typeface="TT Fors"/>
                  <a:sym typeface="TT Fors"/>
                </a:rPr>
                <a:t> was employed instead of the mean to provide a more accurate suggestion.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5181" y="8043757"/>
              <a:ext cx="91821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49" lvl="1" indent="-269875" algn="l">
                <a:lnSpc>
                  <a:spcPts val="3499"/>
                </a:lnSpc>
                <a:buFont typeface="Arial"/>
                <a:buChar char="•"/>
              </a:pPr>
              <a:r>
                <a:rPr lang="en-US" sz="2499" b="1" u="none" strike="noStrike" spc="-74">
                  <a:solidFill>
                    <a:srgbClr val="0A2F52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Edge Case 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00249" y="2365482"/>
            <a:ext cx="9882153" cy="6892818"/>
          </a:xfrm>
          <a:custGeom>
            <a:avLst/>
            <a:gdLst/>
            <a:ahLst/>
            <a:cxnLst/>
            <a:rect l="l" t="t" r="r" b="b"/>
            <a:pathLst>
              <a:path w="9882153" h="6892818">
                <a:moveTo>
                  <a:pt x="0" y="0"/>
                </a:moveTo>
                <a:lnTo>
                  <a:pt x="9882153" y="0"/>
                </a:lnTo>
                <a:lnTo>
                  <a:pt x="9882153" y="6892818"/>
                </a:lnTo>
                <a:lnTo>
                  <a:pt x="0" y="68928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666750" y="331821"/>
            <a:ext cx="12900318" cy="1100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7"/>
              </a:lnSpc>
              <a:spcBef>
                <a:spcPct val="0"/>
              </a:spcBef>
            </a:pPr>
            <a:r>
              <a:rPr lang="en-US" sz="8497" u="none" strike="noStrike" spc="-254" dirty="0">
                <a:solidFill>
                  <a:srgbClr val="0A2F52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Stage A</a:t>
            </a:r>
            <a:r>
              <a:rPr lang="en-US" sz="8497" spc="-254" dirty="0">
                <a:solidFill>
                  <a:srgbClr val="0A2F52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:</a:t>
            </a:r>
            <a:r>
              <a:rPr lang="en-US" sz="8497" u="none" strike="noStrike" spc="-254" dirty="0">
                <a:solidFill>
                  <a:srgbClr val="0A2F52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6750" y="1463973"/>
            <a:ext cx="12900318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06"/>
              </a:lnSpc>
              <a:spcBef>
                <a:spcPct val="0"/>
              </a:spcBef>
            </a:pPr>
            <a:r>
              <a:rPr lang="en-US" sz="3588" u="none" strike="noStrike" spc="-107">
                <a:solidFill>
                  <a:srgbClr val="347AB7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Exploring the Hash Map Logical Filter Process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6750" y="3170218"/>
            <a:ext cx="7173657" cy="128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A2F52"/>
                </a:solidFill>
                <a:latin typeface="TT Fors"/>
                <a:ea typeface="TT Fors"/>
                <a:cs typeface="TT Fors"/>
                <a:sym typeface="TT Fors"/>
              </a:rPr>
              <a:t>The algorithm begins with 33,564 clean listings, ready for processing to provide relevant competitor data.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0334" y="2671743"/>
            <a:ext cx="6886575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u="none" strike="noStrike" spc="-74">
                <a:solidFill>
                  <a:srgbClr val="0A2F52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Input Details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0326" y="5445212"/>
            <a:ext cx="7173657" cy="1330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499"/>
              </a:lnSpc>
              <a:spcBef>
                <a:spcPct val="0"/>
              </a:spcBef>
            </a:pPr>
            <a:r>
              <a:rPr lang="it-IT" sz="2499" dirty="0">
                <a:solidFill>
                  <a:srgbClr val="0A2F52"/>
                </a:solidFill>
                <a:latin typeface="TT Fors"/>
              </a:rPr>
              <a:t>Python </a:t>
            </a:r>
            <a:r>
              <a:rPr lang="it-IT" sz="2499" dirty="0" err="1">
                <a:solidFill>
                  <a:srgbClr val="0A2F52"/>
                </a:solidFill>
                <a:latin typeface="TT Fors"/>
              </a:rPr>
              <a:t>dictionary</a:t>
            </a:r>
            <a:r>
              <a:rPr lang="it-IT" sz="2499" dirty="0">
                <a:solidFill>
                  <a:srgbClr val="0A2F52"/>
                </a:solidFill>
                <a:latin typeface="TT Fors"/>
              </a:rPr>
              <a:t> </a:t>
            </a:r>
            <a:r>
              <a:rPr lang="it-IT" sz="2499" dirty="0" err="1">
                <a:solidFill>
                  <a:srgbClr val="0A2F52"/>
                </a:solidFill>
                <a:latin typeface="TT Fors"/>
              </a:rPr>
              <a:t>indexed</a:t>
            </a:r>
            <a:r>
              <a:rPr lang="it-IT" sz="2499" dirty="0">
                <a:solidFill>
                  <a:srgbClr val="0A2F52"/>
                </a:solidFill>
                <a:latin typeface="TT Fors"/>
              </a:rPr>
              <a:t> by a composite key</a:t>
            </a:r>
            <a:r>
              <a:rPr lang="en-US" sz="2499" dirty="0">
                <a:solidFill>
                  <a:srgbClr val="0A2F52"/>
                </a:solidFill>
                <a:latin typeface="TT Fors"/>
                <a:sym typeface="TT Fors"/>
              </a:rPr>
              <a:t>.</a:t>
            </a:r>
            <a:r>
              <a:rPr lang="en-US" sz="2499" dirty="0">
                <a:solidFill>
                  <a:srgbClr val="0A2F52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499" dirty="0">
                <a:solidFill>
                  <a:srgbClr val="0A2F52"/>
                </a:solidFill>
                <a:latin typeface="TT Fors"/>
                <a:sym typeface="TT Fors"/>
              </a:rPr>
              <a:t>categorizing</a:t>
            </a:r>
            <a:r>
              <a:rPr lang="en-US" sz="2499" dirty="0">
                <a:solidFill>
                  <a:srgbClr val="0A2F52"/>
                </a:solidFill>
                <a:latin typeface="TT Fors"/>
                <a:ea typeface="TT Fors"/>
                <a:cs typeface="TT Fors"/>
                <a:sym typeface="TT Fors"/>
              </a:rPr>
              <a:t> listings into 60 distinct groups for effective filtering.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0334" y="5048250"/>
            <a:ext cx="6886575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u="none" strike="noStrike" spc="-74">
                <a:solidFill>
                  <a:srgbClr val="0A2F52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Key Composite String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6750" y="8093266"/>
            <a:ext cx="7173657" cy="128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A2F52"/>
                </a:solidFill>
                <a:latin typeface="TT Fors"/>
                <a:ea typeface="TT Fors"/>
                <a:cs typeface="TT Fors"/>
                <a:sym typeface="TT Fors"/>
              </a:rPr>
              <a:t>With a build time of O(N) and lookup time of Θ(1), the hash map ensures optimal performance compared to a binary search tree.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0334" y="7594791"/>
            <a:ext cx="6886575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u="none" strike="noStrike" spc="-74">
                <a:solidFill>
                  <a:srgbClr val="0A2F52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Efficiency Justification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263656" y="4921935"/>
            <a:ext cx="9569302" cy="191386"/>
          </a:xfrm>
          <a:custGeom>
            <a:avLst/>
            <a:gdLst/>
            <a:ahLst/>
            <a:cxnLst/>
            <a:rect l="l" t="t" r="r" b="b"/>
            <a:pathLst>
              <a:path w="9569302" h="191386">
                <a:moveTo>
                  <a:pt x="0" y="0"/>
                </a:moveTo>
                <a:lnTo>
                  <a:pt x="9569302" y="0"/>
                </a:lnTo>
                <a:lnTo>
                  <a:pt x="9569302" y="191386"/>
                </a:lnTo>
                <a:lnTo>
                  <a:pt x="0" y="1913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807217" y="2154149"/>
            <a:ext cx="7659622" cy="7648130"/>
          </a:xfrm>
          <a:custGeom>
            <a:avLst/>
            <a:gdLst/>
            <a:ahLst/>
            <a:cxnLst/>
            <a:rect l="l" t="t" r="r" b="b"/>
            <a:pathLst>
              <a:path w="7659622" h="7648130">
                <a:moveTo>
                  <a:pt x="0" y="0"/>
                </a:moveTo>
                <a:lnTo>
                  <a:pt x="7659622" y="0"/>
                </a:lnTo>
                <a:lnTo>
                  <a:pt x="7659622" y="7648130"/>
                </a:lnTo>
                <a:lnTo>
                  <a:pt x="0" y="76481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1028700" y="186052"/>
            <a:ext cx="16539705" cy="1685295"/>
            <a:chOff x="0" y="0"/>
            <a:chExt cx="22052940" cy="2247060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22052940" cy="1138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600"/>
                </a:lnSpc>
                <a:spcBef>
                  <a:spcPct val="0"/>
                </a:spcBef>
              </a:pPr>
              <a:r>
                <a:rPr lang="en-US" sz="5600" u="none" strike="noStrike" spc="-168">
                  <a:solidFill>
                    <a:srgbClr val="0A2F5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KD-Tree and KNN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072310"/>
              <a:ext cx="10264428" cy="1174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800" u="none" strike="noStrike" spc="-84">
                  <a:solidFill>
                    <a:srgbClr val="347AB7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Efficient spatial filtering for nightly price suggestions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393565" y="1469332"/>
            <a:ext cx="8174840" cy="7325713"/>
            <a:chOff x="0" y="0"/>
            <a:chExt cx="10899786" cy="9767617"/>
          </a:xfrm>
        </p:grpSpPr>
        <p:sp>
          <p:nvSpPr>
            <p:cNvPr id="8" name="TextBox 8"/>
            <p:cNvSpPr txBox="1"/>
            <p:nvPr/>
          </p:nvSpPr>
          <p:spPr>
            <a:xfrm>
              <a:off x="729170" y="478871"/>
              <a:ext cx="10170616" cy="2334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66"/>
                </a:lnSpc>
                <a:spcBef>
                  <a:spcPct val="0"/>
                </a:spcBef>
              </a:pPr>
              <a:r>
                <a:rPr lang="en-US" sz="2547">
                  <a:solidFill>
                    <a:srgbClr val="0A2F52"/>
                  </a:solidFill>
                  <a:latin typeface="TT Fors"/>
                  <a:ea typeface="TT Fors"/>
                  <a:cs typeface="TT Fors"/>
                  <a:sym typeface="TT Fors"/>
                </a:rPr>
                <a:t>The KD-Tree utilizes </a:t>
              </a:r>
              <a:r>
                <a:rPr lang="en-US" sz="2547" b="1">
                  <a:solidFill>
                    <a:srgbClr val="0A2F52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competitor listings</a:t>
              </a:r>
              <a:r>
                <a:rPr lang="en-US" sz="2547">
                  <a:solidFill>
                    <a:srgbClr val="0A2F52"/>
                  </a:solidFill>
                  <a:latin typeface="TT Fors"/>
                  <a:ea typeface="TT Fors"/>
                  <a:cs typeface="TT Fors"/>
                  <a:sym typeface="TT Fors"/>
                </a:rPr>
                <a:t> to create an optimal spatial representation, enabling efficient price comparisons within geographic boundaries.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04775"/>
              <a:ext cx="10170616" cy="6153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50030" lvl="1" indent="-275015" algn="l">
                <a:lnSpc>
                  <a:spcPts val="3566"/>
                </a:lnSpc>
                <a:buFont typeface="Arial"/>
                <a:buChar char="•"/>
              </a:pPr>
              <a:r>
                <a:rPr lang="en-US" sz="2547" b="1" u="none" strike="noStrike" spc="-76">
                  <a:solidFill>
                    <a:srgbClr val="0A2F52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Input Listings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170" y="4535656"/>
              <a:ext cx="10170616" cy="1743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66"/>
                </a:lnSpc>
                <a:spcBef>
                  <a:spcPct val="0"/>
                </a:spcBef>
              </a:pPr>
              <a:r>
                <a:rPr lang="en-US" sz="2547">
                  <a:solidFill>
                    <a:srgbClr val="0A2F52"/>
                  </a:solidFill>
                  <a:latin typeface="TT Fors"/>
                  <a:ea typeface="TT Fors"/>
                  <a:cs typeface="TT Fors"/>
                  <a:sym typeface="TT Fors"/>
                </a:rPr>
                <a:t>Building the KD-Tree is a </a:t>
              </a:r>
              <a:r>
                <a:rPr lang="en-US" sz="2547" b="1">
                  <a:solidFill>
                    <a:srgbClr val="0A2F52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bottleneck</a:t>
              </a:r>
              <a:r>
                <a:rPr lang="en-US" sz="2547">
                  <a:solidFill>
                    <a:srgbClr val="0A2F52"/>
                  </a:solidFill>
                  <a:latin typeface="TT Fors"/>
                  <a:ea typeface="TT Fors"/>
                  <a:cs typeface="TT Fors"/>
                  <a:sym typeface="TT Fors"/>
                </a:rPr>
                <a:t> due to its O(N log N) complexity, essential for efficient query performance in the pipeline.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3977410"/>
              <a:ext cx="10170616" cy="6153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50030" lvl="1" indent="-275015" algn="l">
                <a:lnSpc>
                  <a:spcPts val="3566"/>
                </a:lnSpc>
                <a:buFont typeface="Arial"/>
                <a:buChar char="•"/>
              </a:pPr>
              <a:r>
                <a:rPr lang="en-US" sz="2547" b="1" u="none" strike="noStrike" spc="-76">
                  <a:solidFill>
                    <a:srgbClr val="0A2F52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Build Time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9170" y="8024274"/>
              <a:ext cx="10170616" cy="1743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66"/>
                </a:lnSpc>
                <a:spcBef>
                  <a:spcPct val="0"/>
                </a:spcBef>
              </a:pPr>
              <a:r>
                <a:rPr lang="en-US" sz="2547" dirty="0">
                  <a:solidFill>
                    <a:srgbClr val="0A2F52"/>
                  </a:solidFill>
                  <a:latin typeface="TT Fors"/>
                  <a:ea typeface="TT Fors"/>
                  <a:cs typeface="TT Fors"/>
                  <a:sym typeface="TT Fors"/>
                </a:rPr>
                <a:t>KNN query time achieves Theta(log N plus K), making it significantly faster than brute force methods, ensuring timely price suggestions.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7444224"/>
              <a:ext cx="10170616" cy="6153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50030" lvl="1" indent="-275015" algn="l">
                <a:lnSpc>
                  <a:spcPts val="3566"/>
                </a:lnSpc>
                <a:buFont typeface="Arial"/>
                <a:buChar char="•"/>
              </a:pPr>
              <a:r>
                <a:rPr lang="en-US" sz="2547" b="1" u="none" strike="noStrike" spc="-76">
                  <a:solidFill>
                    <a:srgbClr val="0A2F52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Query Efficiency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5204" y="4963020"/>
            <a:ext cx="12126030" cy="5181316"/>
          </a:xfrm>
          <a:custGeom>
            <a:avLst/>
            <a:gdLst/>
            <a:ahLst/>
            <a:cxnLst/>
            <a:rect l="l" t="t" r="r" b="b"/>
            <a:pathLst>
              <a:path w="12126030" h="5181316">
                <a:moveTo>
                  <a:pt x="0" y="0"/>
                </a:moveTo>
                <a:lnTo>
                  <a:pt x="12126030" y="0"/>
                </a:lnTo>
                <a:lnTo>
                  <a:pt x="12126030" y="5181316"/>
                </a:lnTo>
                <a:lnTo>
                  <a:pt x="0" y="5181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51" b="-751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69658" y="288069"/>
            <a:ext cx="17673138" cy="4398797"/>
            <a:chOff x="0" y="0"/>
            <a:chExt cx="23564183" cy="5865063"/>
          </a:xfrm>
        </p:grpSpPr>
        <p:sp>
          <p:nvSpPr>
            <p:cNvPr id="4" name="TextBox 4"/>
            <p:cNvSpPr txBox="1"/>
            <p:nvPr/>
          </p:nvSpPr>
          <p:spPr>
            <a:xfrm>
              <a:off x="634061" y="-9525"/>
              <a:ext cx="9979549" cy="1289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6300"/>
                </a:lnSpc>
                <a:spcBef>
                  <a:spcPct val="0"/>
                </a:spcBef>
              </a:pPr>
              <a:r>
                <a:rPr lang="en-US" sz="6300" u="none" strike="noStrike" spc="-189">
                  <a:solidFill>
                    <a:srgbClr val="0A2F5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QuickSelect Filter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34061" y="1161201"/>
              <a:ext cx="14445264" cy="641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480"/>
                </a:lnSpc>
                <a:spcBef>
                  <a:spcPct val="0"/>
                </a:spcBef>
              </a:pPr>
              <a:r>
                <a:rPr lang="en-US" sz="2900" u="none" strike="noStrike" spc="-87">
                  <a:solidFill>
                    <a:srgbClr val="347AB7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An efficient approach to determine nightly prices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4061" y="3949903"/>
              <a:ext cx="22930123" cy="484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A2F52"/>
                  </a:solidFill>
                  <a:latin typeface="TT Fors"/>
                  <a:ea typeface="TT Fors"/>
                  <a:cs typeface="TT Fors"/>
                  <a:sym typeface="TT Fors"/>
                </a:rPr>
                <a:t>The algorithm utilizes </a:t>
              </a:r>
              <a:r>
                <a:rPr lang="en-US" sz="2200" b="1">
                  <a:solidFill>
                    <a:srgbClr val="0A2F52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50 competitor prices</a:t>
              </a:r>
              <a:r>
                <a:rPr lang="en-US" sz="2200">
                  <a:solidFill>
                    <a:srgbClr val="0A2F52"/>
                  </a:solidFill>
                  <a:latin typeface="TT Fors"/>
                  <a:ea typeface="TT Fors"/>
                  <a:cs typeface="TT Fors"/>
                  <a:sym typeface="TT Fors"/>
                </a:rPr>
                <a:t> from the KD-Tree output to suggest an optimal nightly price efficiently.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405285"/>
              <a:ext cx="9182100" cy="5319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 b="1" u="none" strike="noStrike" spc="-66">
                  <a:solidFill>
                    <a:srgbClr val="0A2F52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Input Details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34061" y="5380770"/>
              <a:ext cx="22547347" cy="484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A2F52"/>
                  </a:solidFill>
                  <a:latin typeface="TT Fors"/>
                  <a:ea typeface="TT Fors"/>
                  <a:cs typeface="TT Fors"/>
                  <a:sym typeface="TT Fors"/>
                </a:rPr>
                <a:t>QuickSelect operates in </a:t>
              </a:r>
              <a:r>
                <a:rPr lang="en-US" sz="2200" b="1">
                  <a:solidFill>
                    <a:srgbClr val="0A2F52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Theta K</a:t>
              </a:r>
              <a:r>
                <a:rPr lang="en-US" sz="2200">
                  <a:solidFill>
                    <a:srgbClr val="0A2F52"/>
                  </a:solidFill>
                  <a:latin typeface="TT Fors"/>
                  <a:ea typeface="TT Fors"/>
                  <a:cs typeface="TT Fors"/>
                  <a:sym typeface="TT Fors"/>
                </a:rPr>
                <a:t> time on average, making it significantly faster than sorting for </a:t>
              </a:r>
              <a:r>
                <a:rPr lang="en-US" sz="2200" b="1">
                  <a:solidFill>
                    <a:srgbClr val="0A2F52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K equals 50</a:t>
              </a:r>
              <a:r>
                <a:rPr lang="en-US" sz="2200">
                  <a:solidFill>
                    <a:srgbClr val="0A2F52"/>
                  </a:solidFill>
                  <a:latin typeface="TT Fors"/>
                  <a:ea typeface="TT Fors"/>
                  <a:cs typeface="TT Fors"/>
                  <a:sym typeface="TT Fors"/>
                </a:rPr>
                <a:t> competitor prices.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4886952"/>
              <a:ext cx="9182100" cy="5319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 b="1" u="none" strike="noStrike" spc="-66">
                  <a:solidFill>
                    <a:srgbClr val="0A2F52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Time Complexity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4061" y="2513751"/>
              <a:ext cx="22547347" cy="484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A2F52"/>
                  </a:solidFill>
                  <a:latin typeface="TT Fors"/>
                  <a:ea typeface="TT Fors"/>
                  <a:cs typeface="TT Fors"/>
                  <a:sym typeface="TT Fors"/>
                </a:rPr>
                <a:t>The algorithm runs in </a:t>
              </a:r>
              <a:r>
                <a:rPr lang="en-US" sz="2200" b="1">
                  <a:solidFill>
                    <a:srgbClr val="0A2F52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Theta 1</a:t>
              </a:r>
              <a:r>
                <a:rPr lang="en-US" sz="2200">
                  <a:solidFill>
                    <a:srgbClr val="0A2F52"/>
                  </a:solidFill>
                  <a:latin typeface="TT Fors"/>
                  <a:ea typeface="TT Fors"/>
                  <a:cs typeface="TT Fors"/>
                  <a:sym typeface="TT Fors"/>
                </a:rPr>
                <a:t> space, allowing it to process data in place without requiring additional storage.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969133"/>
              <a:ext cx="9182100" cy="5319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 b="1" u="none" strike="noStrike" spc="-66">
                  <a:solidFill>
                    <a:srgbClr val="0A2F52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Space Complexity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420612" y="7871453"/>
            <a:ext cx="4846643" cy="1791955"/>
            <a:chOff x="0" y="0"/>
            <a:chExt cx="6462190" cy="238927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464" y="2759700"/>
            <a:ext cx="10951207" cy="6498600"/>
          </a:xfrm>
          <a:custGeom>
            <a:avLst/>
            <a:gdLst/>
            <a:ahLst/>
            <a:cxnLst/>
            <a:rect l="l" t="t" r="r" b="b"/>
            <a:pathLst>
              <a:path w="10951207" h="6498600">
                <a:moveTo>
                  <a:pt x="0" y="0"/>
                </a:moveTo>
                <a:lnTo>
                  <a:pt x="10951208" y="0"/>
                </a:lnTo>
                <a:lnTo>
                  <a:pt x="10951208" y="6498600"/>
                </a:lnTo>
                <a:lnTo>
                  <a:pt x="0" y="649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529414" y="852734"/>
            <a:ext cx="10284457" cy="1028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25"/>
              </a:lnSpc>
              <a:spcBef>
                <a:spcPct val="0"/>
              </a:spcBef>
            </a:pPr>
            <a:r>
              <a:rPr lang="en-US" sz="6725" u="none" strike="noStrike" spc="-201">
                <a:solidFill>
                  <a:srgbClr val="0A2F52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Architectural Justification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14858" y="520164"/>
            <a:ext cx="5960840" cy="9199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81"/>
              </a:lnSpc>
              <a:spcBef>
                <a:spcPct val="0"/>
              </a:spcBef>
            </a:pPr>
            <a:r>
              <a:rPr lang="en-US" sz="2629" dirty="0">
                <a:solidFill>
                  <a:srgbClr val="0A2F52"/>
                </a:solidFill>
                <a:latin typeface="TT Fors"/>
                <a:ea typeface="TT Fors"/>
                <a:cs typeface="TT Fors"/>
                <a:sym typeface="TT Fors"/>
              </a:rPr>
              <a:t>The algorithm pipeline consists of several stages, each with specific time and space complexities:</a:t>
            </a:r>
          </a:p>
          <a:p>
            <a:pPr marL="0" lvl="0" indent="0" algn="l">
              <a:lnSpc>
                <a:spcPts val="3681"/>
              </a:lnSpc>
              <a:spcBef>
                <a:spcPct val="0"/>
              </a:spcBef>
            </a:pPr>
            <a:endParaRPr lang="en-US" sz="2629" dirty="0">
              <a:solidFill>
                <a:srgbClr val="0A2F52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marL="567787" lvl="1" indent="-283893" algn="l">
              <a:lnSpc>
                <a:spcPts val="3681"/>
              </a:lnSpc>
              <a:spcBef>
                <a:spcPct val="0"/>
              </a:spcBef>
              <a:buFont typeface="Arial"/>
              <a:buChar char="•"/>
            </a:pPr>
            <a:r>
              <a:rPr lang="en-US" sz="2629" dirty="0">
                <a:solidFill>
                  <a:srgbClr val="0A2F52"/>
                </a:solidFill>
                <a:latin typeface="TT Fors"/>
                <a:ea typeface="TT Fors"/>
                <a:cs typeface="TT Fors"/>
                <a:sym typeface="TT Fors"/>
              </a:rPr>
              <a:t>Preprocessing: O(N) time, O(N) space</a:t>
            </a:r>
          </a:p>
          <a:p>
            <a:pPr marL="567787" lvl="1" indent="-283893" algn="l">
              <a:lnSpc>
                <a:spcPts val="3681"/>
              </a:lnSpc>
              <a:spcBef>
                <a:spcPct val="0"/>
              </a:spcBef>
              <a:buFont typeface="Arial"/>
              <a:buChar char="•"/>
            </a:pPr>
            <a:r>
              <a:rPr lang="en-US" sz="2629" dirty="0">
                <a:solidFill>
                  <a:srgbClr val="0A2F52"/>
                </a:solidFill>
                <a:latin typeface="TT Fors"/>
                <a:ea typeface="TT Fors"/>
                <a:cs typeface="TT Fors"/>
                <a:sym typeface="TT Fors"/>
              </a:rPr>
              <a:t>Stage A (Hash Map): Build time O(N), lookup time Θ(1)</a:t>
            </a:r>
          </a:p>
          <a:p>
            <a:pPr marL="567787" lvl="1" indent="-283893" algn="l">
              <a:lnSpc>
                <a:spcPts val="3681"/>
              </a:lnSpc>
              <a:spcBef>
                <a:spcPct val="0"/>
              </a:spcBef>
              <a:buFont typeface="Arial"/>
              <a:buChar char="•"/>
            </a:pPr>
            <a:r>
              <a:rPr lang="en-US" sz="2629" dirty="0">
                <a:solidFill>
                  <a:srgbClr val="0A2F52"/>
                </a:solidFill>
                <a:latin typeface="TT Fors"/>
                <a:ea typeface="TT Fors"/>
                <a:cs typeface="TT Fors"/>
                <a:sym typeface="TT Fors"/>
              </a:rPr>
              <a:t>Stage B (KD-Tree): Build time O(N log N) – </a:t>
            </a:r>
            <a:r>
              <a:rPr lang="en-US" sz="2629" b="1" dirty="0">
                <a:solidFill>
                  <a:srgbClr val="0A2F52"/>
                </a:solidFill>
                <a:latin typeface="TT Fors Bold"/>
                <a:ea typeface="TT Fors Bold"/>
                <a:cs typeface="TT Fors Bold"/>
                <a:sym typeface="TT Fors Bold"/>
              </a:rPr>
              <a:t>bottleneck</a:t>
            </a:r>
          </a:p>
          <a:p>
            <a:pPr marL="567787" lvl="1" indent="-283893" algn="l">
              <a:lnSpc>
                <a:spcPts val="3681"/>
              </a:lnSpc>
              <a:spcBef>
                <a:spcPct val="0"/>
              </a:spcBef>
              <a:buFont typeface="Arial"/>
              <a:buChar char="•"/>
            </a:pPr>
            <a:r>
              <a:rPr lang="en-US" sz="2629" dirty="0">
                <a:solidFill>
                  <a:srgbClr val="0A2F52"/>
                </a:solidFill>
                <a:latin typeface="TT Fors"/>
                <a:ea typeface="TT Fors"/>
                <a:cs typeface="TT Fors"/>
                <a:sym typeface="TT Fors"/>
              </a:rPr>
              <a:t>Stage B (KNN Query): Query time Θ(log N) + K</a:t>
            </a:r>
          </a:p>
          <a:p>
            <a:pPr marL="567787" lvl="1" indent="-283893" algn="l">
              <a:lnSpc>
                <a:spcPts val="3681"/>
              </a:lnSpc>
              <a:spcBef>
                <a:spcPct val="0"/>
              </a:spcBef>
              <a:buFont typeface="Arial"/>
              <a:buChar char="•"/>
            </a:pPr>
            <a:r>
              <a:rPr lang="en-US" sz="2629" dirty="0">
                <a:solidFill>
                  <a:srgbClr val="0A2F52"/>
                </a:solidFill>
                <a:latin typeface="TT Fors"/>
                <a:ea typeface="TT Fors"/>
                <a:cs typeface="TT Fors"/>
                <a:sym typeface="TT Fors"/>
              </a:rPr>
              <a:t>Stage C (</a:t>
            </a:r>
            <a:r>
              <a:rPr lang="en-US" sz="2629" dirty="0" err="1">
                <a:solidFill>
                  <a:srgbClr val="0A2F52"/>
                </a:solidFill>
                <a:latin typeface="TT Fors"/>
                <a:ea typeface="TT Fors"/>
                <a:cs typeface="TT Fors"/>
                <a:sym typeface="TT Fors"/>
              </a:rPr>
              <a:t>QuickSelect</a:t>
            </a:r>
            <a:r>
              <a:rPr lang="en-US" sz="2629" dirty="0">
                <a:solidFill>
                  <a:srgbClr val="0A2F52"/>
                </a:solidFill>
                <a:latin typeface="TT Fors"/>
                <a:ea typeface="TT Fors"/>
                <a:cs typeface="TT Fors"/>
                <a:sym typeface="TT Fors"/>
              </a:rPr>
              <a:t>): Time Θ(K), space Θ(1)</a:t>
            </a:r>
          </a:p>
          <a:p>
            <a:pPr algn="l">
              <a:lnSpc>
                <a:spcPts val="3681"/>
              </a:lnSpc>
              <a:spcBef>
                <a:spcPct val="0"/>
              </a:spcBef>
            </a:pPr>
            <a:endParaRPr lang="en-US" sz="2629" dirty="0">
              <a:solidFill>
                <a:srgbClr val="0A2F52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marL="0" lvl="0" indent="0" algn="l">
              <a:lnSpc>
                <a:spcPts val="3681"/>
              </a:lnSpc>
              <a:spcBef>
                <a:spcPct val="0"/>
              </a:spcBef>
            </a:pPr>
            <a:r>
              <a:rPr lang="en-US" sz="2629" dirty="0">
                <a:solidFill>
                  <a:srgbClr val="0A2F52"/>
                </a:solidFill>
                <a:latin typeface="TT Fors"/>
                <a:ea typeface="TT Fors"/>
                <a:cs typeface="TT Fors"/>
                <a:sym typeface="TT Fors"/>
              </a:rPr>
              <a:t>The funnel effect narrows the dataset from 33,564 to 12,803 to 50 and finally to 1 price, justifying the bottleneck of O(N log N) as a one-time cost that facilitates efficient searches.</a:t>
            </a:r>
          </a:p>
        </p:txBody>
      </p:sp>
      <p:sp>
        <p:nvSpPr>
          <p:cNvPr id="5" name="Freeform 5"/>
          <p:cNvSpPr/>
          <p:nvPr/>
        </p:nvSpPr>
        <p:spPr>
          <a:xfrm rot="5400000">
            <a:off x="6429714" y="5047807"/>
            <a:ext cx="9569302" cy="191386"/>
          </a:xfrm>
          <a:custGeom>
            <a:avLst/>
            <a:gdLst/>
            <a:ahLst/>
            <a:cxnLst/>
            <a:rect l="l" t="t" r="r" b="b"/>
            <a:pathLst>
              <a:path w="9569302" h="191386">
                <a:moveTo>
                  <a:pt x="0" y="0"/>
                </a:moveTo>
                <a:lnTo>
                  <a:pt x="9569302" y="0"/>
                </a:lnTo>
                <a:lnTo>
                  <a:pt x="9569302" y="191386"/>
                </a:lnTo>
                <a:lnTo>
                  <a:pt x="0" y="1913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31925" y="482751"/>
            <a:ext cx="9205181" cy="4251174"/>
            <a:chOff x="0" y="0"/>
            <a:chExt cx="965145" cy="4457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5145" cy="445727"/>
            </a:xfrm>
            <a:custGeom>
              <a:avLst/>
              <a:gdLst/>
              <a:ahLst/>
              <a:cxnLst/>
              <a:rect l="l" t="t" r="r" b="b"/>
              <a:pathLst>
                <a:path w="965145" h="445727">
                  <a:moveTo>
                    <a:pt x="0" y="0"/>
                  </a:moveTo>
                  <a:lnTo>
                    <a:pt x="965145" y="0"/>
                  </a:lnTo>
                  <a:lnTo>
                    <a:pt x="965145" y="445727"/>
                  </a:lnTo>
                  <a:lnTo>
                    <a:pt x="0" y="445727"/>
                  </a:lnTo>
                  <a:close/>
                </a:path>
              </a:pathLst>
            </a:custGeom>
            <a:blipFill>
              <a:blip r:embed="rId2"/>
              <a:stretch>
                <a:fillRect t="-8734" b="-8734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047781" y="4866261"/>
            <a:ext cx="9573469" cy="5420739"/>
            <a:chOff x="0" y="0"/>
            <a:chExt cx="1022352" cy="57888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22352" cy="578881"/>
            </a:xfrm>
            <a:custGeom>
              <a:avLst/>
              <a:gdLst/>
              <a:ahLst/>
              <a:cxnLst/>
              <a:rect l="l" t="t" r="r" b="b"/>
              <a:pathLst>
                <a:path w="1022352" h="578881">
                  <a:moveTo>
                    <a:pt x="0" y="0"/>
                  </a:moveTo>
                  <a:lnTo>
                    <a:pt x="1022352" y="0"/>
                  </a:lnTo>
                  <a:lnTo>
                    <a:pt x="1022352" y="578881"/>
                  </a:lnTo>
                  <a:lnTo>
                    <a:pt x="0" y="578881"/>
                  </a:lnTo>
                  <a:close/>
                </a:path>
              </a:pathLst>
            </a:custGeom>
            <a:blipFill>
              <a:blip r:embed="rId3"/>
              <a:stretch>
                <a:fillRect t="-112" b="-112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Freeform 8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Freeform 9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6750" y="666750"/>
            <a:ext cx="8324850" cy="6080757"/>
            <a:chOff x="0" y="0"/>
            <a:chExt cx="11099800" cy="8107676"/>
          </a:xfrm>
        </p:grpSpPr>
        <p:sp>
          <p:nvSpPr>
            <p:cNvPr id="11" name="TextBox 11"/>
            <p:cNvSpPr txBox="1"/>
            <p:nvPr/>
          </p:nvSpPr>
          <p:spPr>
            <a:xfrm>
              <a:off x="0" y="0"/>
              <a:ext cx="11099800" cy="31580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99"/>
                </a:lnSpc>
                <a:spcBef>
                  <a:spcPct val="0"/>
                </a:spcBef>
              </a:pPr>
              <a:r>
                <a:rPr lang="en-US" sz="8499" u="none" strike="noStrike" spc="-254">
                  <a:solidFill>
                    <a:srgbClr val="0A2F5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Live Demo Overview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3699929"/>
              <a:ext cx="11099800" cy="825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39"/>
                </a:lnSpc>
                <a:spcBef>
                  <a:spcPct val="0"/>
                </a:spcBef>
              </a:pPr>
              <a:r>
                <a:rPr lang="en-US" sz="3699" u="none" strike="noStrike" spc="-110">
                  <a:solidFill>
                    <a:srgbClr val="347AB7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Inputs and Outputs Explained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5100104"/>
              <a:ext cx="9182100" cy="30075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</a:pPr>
              <a:r>
                <a:rPr lang="en-US" sz="2599">
                  <a:solidFill>
                    <a:srgbClr val="0A2F52"/>
                  </a:solidFill>
                  <a:latin typeface="TT Fors"/>
                  <a:ea typeface="TT Fors"/>
                  <a:cs typeface="TT Fors"/>
                  <a:sym typeface="TT Fors"/>
                </a:rPr>
                <a:t>During the live demo, a host inputs room type, neighborhood, and geographic coordinates to receive a </a:t>
              </a:r>
              <a:r>
                <a:rPr lang="en-US" sz="2599" b="1">
                  <a:solidFill>
                    <a:srgbClr val="0A2F52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suggested median nightly price</a:t>
              </a:r>
              <a:r>
                <a:rPr lang="en-US" sz="2599">
                  <a:solidFill>
                    <a:srgbClr val="0A2F52"/>
                  </a:solidFill>
                  <a:latin typeface="TT Fors"/>
                  <a:ea typeface="TT Fors"/>
                  <a:cs typeface="TT Fors"/>
                  <a:sym typeface="TT Fors"/>
                </a:rPr>
                <a:t> based on the algorithm's analysis.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75924" y="0"/>
            <a:ext cx="10212076" cy="10287000"/>
            <a:chOff x="0" y="0"/>
            <a:chExt cx="2292994" cy="23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92994" cy="2309817"/>
            </a:xfrm>
            <a:custGeom>
              <a:avLst/>
              <a:gdLst/>
              <a:ahLst/>
              <a:cxnLst/>
              <a:rect l="l" t="t" r="r" b="b"/>
              <a:pathLst>
                <a:path w="2292994" h="2309817">
                  <a:moveTo>
                    <a:pt x="0" y="0"/>
                  </a:moveTo>
                  <a:lnTo>
                    <a:pt x="2292994" y="0"/>
                  </a:lnTo>
                  <a:lnTo>
                    <a:pt x="2292994" y="2309817"/>
                  </a:lnTo>
                  <a:lnTo>
                    <a:pt x="0" y="2309817"/>
                  </a:lnTo>
                  <a:close/>
                </a:path>
              </a:pathLst>
            </a:custGeom>
            <a:blipFill>
              <a:blip r:embed="rId2"/>
              <a:stretch>
                <a:fillRect l="-16381" r="-16381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Freeform 6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Freeform 7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38713" y="838482"/>
            <a:ext cx="7849304" cy="3171825"/>
            <a:chOff x="0" y="0"/>
            <a:chExt cx="10465739" cy="4229100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10465739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0A2F52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Any Questions About Pricing?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3514725"/>
              <a:ext cx="10436023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551</Words>
  <Application>Microsoft Office PowerPoint</Application>
  <PresentationFormat>Personalizzato</PresentationFormat>
  <Paragraphs>52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6" baseType="lpstr">
      <vt:lpstr>ITC Avant Garde Gothic Bold</vt:lpstr>
      <vt:lpstr>Arial</vt:lpstr>
      <vt:lpstr>TT Fors</vt:lpstr>
      <vt:lpstr>Calibri</vt:lpstr>
      <vt:lpstr>ITC Avant Garde Gothic</vt:lpstr>
      <vt:lpstr>TT Fors Bold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- Airbnb Market Radar</dc:title>
  <dc:description>Presentazione - Airbnb Market Radar</dc:description>
  <cp:lastModifiedBy>Emanuele Bellezza</cp:lastModifiedBy>
  <cp:revision>2</cp:revision>
  <dcterms:created xsi:type="dcterms:W3CDTF">2006-08-16T00:00:00Z</dcterms:created>
  <dcterms:modified xsi:type="dcterms:W3CDTF">2026-06-03T15:46:10Z</dcterms:modified>
  <dc:identifier>DAHLIYuIL2g</dc:identifier>
</cp:coreProperties>
</file>